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629400" y="1600200"/>
            <a:ext cx="3657600" cy="365760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0880" y="2011680"/>
            <a:ext cx="2834640" cy="283464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52360" y="2423160"/>
            <a:ext cx="2011680" cy="2011680"/>
          </a:xfrm>
          <a:prstGeom prst="ellipse">
            <a:avLst/>
          </a:prstGeom>
          <a:solidFill>
            <a:srgbClr val="1E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2697480"/>
            <a:ext cx="960120" cy="713232"/>
          </a:xfrm>
          <a:prstGeom prst="roundRect">
            <a:avLst/>
          </a:prstGeom>
          <a:solidFill>
            <a:srgbClr val="181F3D"/>
          </a:solidFill>
          <a:ln w="1270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41080" y="2907792"/>
            <a:ext cx="1051560" cy="274320"/>
          </a:xfrm>
          <a:prstGeom prst="rect">
            <a:avLst/>
          </a:prstGeom>
          <a:solidFill>
            <a:srgbClr val="235ABE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52760" y="2907792"/>
            <a:ext cx="1051560" cy="274320"/>
          </a:xfrm>
          <a:prstGeom prst="rect">
            <a:avLst/>
          </a:prstGeom>
          <a:solidFill>
            <a:srgbClr val="235ABE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00DCFF"/>
                </a:solidFill>
                <a:latin typeface="Liberation Sans"/>
              </a:rPr>
              <a:t>PQC-SAT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84831"/>
            <a:ext cx="70408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EBF2FF"/>
                </a:solidFill>
                <a:latin typeface="Liberation Sans"/>
              </a:rPr>
              <a:t>Mini-experimento sobre criptografia pós-quântica, falhas transitórias e proteção de integridade em um OBC COTS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257800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6A5C3"/>
                </a:solidFill>
                <a:latin typeface="Liberation Sans"/>
              </a:rPr>
              <a:t>Amon Sinder Souza Pires e Lucas Silva Mendonça  |  Universidade Federal Fluminense (UFF)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623560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6A5C3"/>
                </a:solidFill>
                <a:latin typeface="Liberation Sans"/>
              </a:rPr>
              <a:t>TCC00230 Introdução à Criptografia 2026.1  •  Junho de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343400"/>
            <a:ext cx="2423160" cy="329184"/>
          </a:xfrm>
          <a:prstGeom prst="roundRect">
            <a:avLst/>
          </a:prstGeom>
          <a:solidFill>
            <a:srgbClr val="00E68C"/>
          </a:solidFill>
          <a:ln>
            <a:solidFill>
              <a:srgbClr val="0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1000" b="1">
                <a:solidFill>
                  <a:srgbClr val="050714"/>
                </a:solidFill>
                <a:latin typeface="Liberation Sans"/>
              </a:rPr>
              <a:t>PROPOSTA + PROTÓTIPO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F"/>
                </a:solidFill>
                <a:latin typeface="Liberation Sans"/>
              </a:rPr>
              <a:t>Por que este problema importa?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786384"/>
            <a:ext cx="18288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434340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72768"/>
            <a:ext cx="1417320" cy="329184"/>
          </a:xfrm>
          <a:prstGeom prst="round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1000" b="1">
                <a:solidFill>
                  <a:srgbClr val="050714"/>
                </a:solidFill>
                <a:latin typeface="Liberation Sans"/>
              </a:rPr>
              <a:t>CUBESAT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BF2FF"/>
                </a:solidFill>
                <a:latin typeface="Liberation Sans"/>
              </a:rPr>
              <a:t>Hardware COTS reduz custo, mas opera sob restrições e falhas transitórias.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4069080"/>
            <a:ext cx="1097280" cy="1097280"/>
          </a:xfrm>
          <a:prstGeom prst="ellipse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427939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50714"/>
                </a:solidFill>
                <a:latin typeface="Liberation San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429000" cy="434340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1572768"/>
            <a:ext cx="1874519" cy="329184"/>
          </a:xfrm>
          <a:prstGeom prst="roundRect">
            <a:avLst/>
          </a:prstGeom>
          <a:solidFill>
            <a:srgbClr val="B164FF"/>
          </a:solidFill>
          <a:ln>
            <a:solidFill>
              <a:srgbClr val="B1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1000" b="1">
                <a:solidFill>
                  <a:srgbClr val="050714"/>
                </a:solidFill>
                <a:latin typeface="Liberation Sans"/>
              </a:rPr>
              <a:t>PÓS-QUÂNTICA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40280"/>
            <a:ext cx="2788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BF2FF"/>
                </a:solidFill>
                <a:latin typeface="Liberation Sans"/>
              </a:rPr>
              <a:t>ML-KEM protege contra ameaças futuras, porém não elimina corrupção física.</a:t>
            </a:r>
          </a:p>
        </p:txBody>
      </p:sp>
      <p:sp>
        <p:nvSpPr>
          <p:cNvPr id="14" name="Oval 13"/>
          <p:cNvSpPr/>
          <p:nvPr/>
        </p:nvSpPr>
        <p:spPr>
          <a:xfrm>
            <a:off x="5577840" y="4069080"/>
            <a:ext cx="1097280" cy="1097280"/>
          </a:xfrm>
          <a:prstGeom prst="ellipse">
            <a:avLst/>
          </a:prstGeom>
          <a:solidFill>
            <a:srgbClr val="B164FF"/>
          </a:solidFill>
          <a:ln>
            <a:solidFill>
              <a:srgbClr val="B1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27939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50714"/>
                </a:solidFill>
                <a:latin typeface="Liberation San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234440"/>
            <a:ext cx="3429000" cy="434340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0" y="1572768"/>
            <a:ext cx="1417320" cy="329184"/>
          </a:xfrm>
          <a:prstGeom prst="roundRect">
            <a:avLst/>
          </a:prstGeom>
          <a:solidFill>
            <a:srgbClr val="FFA600"/>
          </a:solidFill>
          <a:ln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1000" b="1">
                <a:solidFill>
                  <a:srgbClr val="050714"/>
                </a:solidFill>
                <a:latin typeface="Liberation Sans"/>
              </a:rPr>
              <a:t>CIBERSEGURANÇA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240280"/>
            <a:ext cx="2788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BF2FF"/>
                </a:solidFill>
                <a:latin typeface="Liberation Sans"/>
              </a:rPr>
              <a:t>Algoritmo, implementação, protocolo e integridade precisam funcionar juntos.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0" y="4069080"/>
            <a:ext cx="1097280" cy="1097280"/>
          </a:xfrm>
          <a:prstGeom prst="ellipse">
            <a:avLst/>
          </a:prstGeom>
          <a:solidFill>
            <a:srgbClr val="FFA600"/>
          </a:solidFill>
          <a:ln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427939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50714"/>
                </a:solidFill>
                <a:latin typeface="Liberatio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DCFF"/>
                </a:solidFill>
                <a:latin typeface="Liberation Sans"/>
              </a:rPr>
              <a:t>Ideia central: criptografia forte não compensa uma cadeia de execução sem integridade.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F"/>
                </a:solidFill>
                <a:latin typeface="Liberation Sans"/>
              </a:rPr>
              <a:t>Pergunta de pesquisa e hipótese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786384"/>
            <a:ext cx="18288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835640" cy="1371600"/>
          </a:xfrm>
          <a:prstGeom prst="roundRect">
            <a:avLst/>
          </a:prstGeom>
          <a:solidFill>
            <a:srgbClr val="181F3D"/>
          </a:solidFill>
          <a:ln w="12700">
            <a:solidFill>
              <a:srgbClr val="B1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1732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EBF2FF"/>
                </a:solidFill>
                <a:latin typeface="Liberation Sans"/>
              </a:rPr>
              <a:t>O que acontece quando um bit-flip altera uma mensagem ou sessão criptográfica em um OBC COTS?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274320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101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DCFF"/>
                </a:solidFill>
                <a:latin typeface="Liberation Sans"/>
              </a:rPr>
              <a:t>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49039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BF2FF"/>
                </a:solidFill>
                <a:latin typeface="Liberation Sans"/>
              </a:rPr>
              <a:t>01001101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3822191"/>
            <a:ext cx="868680" cy="0"/>
          </a:xfrm>
          <a:prstGeom prst="line">
            <a:avLst/>
          </a:prstGeom>
          <a:ln w="25400">
            <a:solidFill>
              <a:srgbClr val="0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09160" y="3063240"/>
            <a:ext cx="274320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3101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4B5F"/>
                </a:solidFill>
                <a:latin typeface="Liberation Sans"/>
              </a:rPr>
              <a:t>FALHA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749039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BF2FF"/>
                </a:solidFill>
                <a:latin typeface="Liberation Sans"/>
              </a:rPr>
              <a:t>bit-flip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79" y="3822191"/>
            <a:ext cx="868681" cy="0"/>
          </a:xfrm>
          <a:prstGeom prst="line">
            <a:avLst/>
          </a:prstGeom>
          <a:ln w="25400">
            <a:solidFill>
              <a:srgbClr val="0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03920" y="3063240"/>
            <a:ext cx="274320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3101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A600"/>
                </a:solidFill>
                <a:latin typeface="Liberation Sans"/>
              </a:rPr>
              <a:t>RECEPTOR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749039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BF2FF"/>
                </a:solidFill>
                <a:latin typeface="Liberation Sans"/>
              </a:rPr>
              <a:t>aceita ou detecta?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074920"/>
            <a:ext cx="9875520" cy="8229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0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303520"/>
            <a:ext cx="9235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E68C"/>
                </a:solidFill>
                <a:latin typeface="Liberation Sans"/>
              </a:rPr>
              <a:t>Hipótese: um guardião leve reduz corrupções silenciosas com overhead compatível.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F"/>
                </a:solidFill>
                <a:latin typeface="Liberation Sans"/>
              </a:rPr>
              <a:t>Arquitetura experimental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786384"/>
            <a:ext cx="18288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749039" cy="42519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18120" y="1325880"/>
            <a:ext cx="3749039" cy="42519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DCFF"/>
                </a:solidFill>
                <a:latin typeface="Liberation Sans"/>
              </a:rPr>
              <a:t>NOTEBOOK / ESTAÇÃO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BF2FF"/>
                </a:solidFill>
                <a:latin typeface="Liberation Sans"/>
              </a:defRPr>
            </a:pPr>
            <a:r>
              <a:t>• Dashboard Pygame</a:t>
            </a:r>
          </a:p>
          <a:p>
            <a:pPr>
              <a:spcAft>
                <a:spcPts val="1000"/>
              </a:spcAft>
              <a:defRPr sz="1800">
                <a:solidFill>
                  <a:srgbClr val="EBF2FF"/>
                </a:solidFill>
                <a:latin typeface="Liberation Sans"/>
              </a:defRPr>
            </a:pPr>
            <a:r>
              <a:t>• Campanha de faults</a:t>
            </a:r>
          </a:p>
          <a:p>
            <a:pPr>
              <a:spcAft>
                <a:spcPts val="1000"/>
              </a:spcAft>
              <a:defRPr sz="1800">
                <a:solidFill>
                  <a:srgbClr val="EBF2FF"/>
                </a:solidFill>
                <a:latin typeface="Liberation Sans"/>
              </a:defRPr>
            </a:pPr>
            <a:r>
              <a:t>• Timeline e CSV</a:t>
            </a:r>
          </a:p>
          <a:p>
            <a:pPr>
              <a:spcAft>
                <a:spcPts val="1000"/>
              </a:spcAft>
              <a:defRPr sz="1800">
                <a:solidFill>
                  <a:srgbClr val="EBF2FF"/>
                </a:solidFill>
                <a:latin typeface="Liberation Sans"/>
              </a:defRPr>
            </a:pPr>
            <a:r>
              <a:t>• Modo simulado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6459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A600"/>
                </a:solidFill>
                <a:latin typeface="Liberation Sans"/>
              </a:rPr>
              <a:t>ESP32 / OBC COTS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402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BF2FF"/>
                </a:solidFill>
                <a:latin typeface="Liberation Sans"/>
              </a:defRPr>
            </a:pPr>
            <a:r>
              <a:t>• Payload e guardião</a:t>
            </a:r>
          </a:p>
          <a:p>
            <a:pPr>
              <a:spcAft>
                <a:spcPts val="1000"/>
              </a:spcAft>
              <a:defRPr sz="1800">
                <a:solidFill>
                  <a:srgbClr val="EBF2FF"/>
                </a:solidFill>
                <a:latin typeface="Liberation Sans"/>
              </a:defRPr>
            </a:pPr>
            <a:r>
              <a:t>• Backend criptográfico</a:t>
            </a:r>
          </a:p>
          <a:p>
            <a:pPr>
              <a:spcAft>
                <a:spcPts val="1000"/>
              </a:spcAft>
              <a:defRPr sz="1800">
                <a:solidFill>
                  <a:srgbClr val="EBF2FF"/>
                </a:solidFill>
                <a:latin typeface="Liberation Sans"/>
              </a:defRPr>
            </a:pPr>
            <a:r>
              <a:t>• Watchdog e heap</a:t>
            </a:r>
          </a:p>
          <a:p>
            <a:pPr>
              <a:spcAft>
                <a:spcPts val="1000"/>
              </a:spcAft>
              <a:defRPr sz="1800">
                <a:solidFill>
                  <a:srgbClr val="EBF2FF"/>
                </a:solidFill>
                <a:latin typeface="Liberation Sans"/>
              </a:defRPr>
            </a:pPr>
            <a:r>
              <a:t>• Telemetria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3108960"/>
            <a:ext cx="3291839" cy="0"/>
          </a:xfrm>
          <a:prstGeom prst="line">
            <a:avLst/>
          </a:prstGeom>
          <a:ln w="25400">
            <a:solidFill>
              <a:srgbClr val="00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434840" y="3794760"/>
            <a:ext cx="3291839" cy="0"/>
          </a:xfrm>
          <a:prstGeom prst="line">
            <a:avLst/>
          </a:prstGeom>
          <a:ln w="25400">
            <a:solidFill>
              <a:srgbClr val="00E6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63440" y="267004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DCFF"/>
                </a:solidFill>
                <a:latin typeface="Liberation Sans"/>
              </a:rPr>
              <a:t>UART / protocolo versionado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2461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6A5C3"/>
                </a:solidFill>
                <a:latin typeface="Liberation Sans"/>
              </a:rPr>
              <a:t>comandos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95020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6A5C3"/>
                </a:solidFill>
                <a:latin typeface="Liberation Sans"/>
              </a:rPr>
              <a:t>← resultados e telemetria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846320"/>
            <a:ext cx="3108960" cy="329184"/>
          </a:xfrm>
          <a:prstGeom prst="roundRect">
            <a:avLst/>
          </a:prstGeom>
          <a:solidFill>
            <a:srgbClr val="B164FF"/>
          </a:solidFill>
          <a:ln>
            <a:solidFill>
              <a:srgbClr val="B1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1000" b="1">
                <a:solidFill>
                  <a:srgbClr val="050714"/>
                </a:solidFill>
                <a:latin typeface="Liberation Sans"/>
              </a:rPr>
              <a:t>FALLBACK: SIMULAÇÃO HONESTA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F"/>
                </a:solidFill>
                <a:latin typeface="Liberation Sans"/>
              </a:rPr>
              <a:t>Protótipo visual já funcional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786384"/>
            <a:ext cx="18288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6A5C3"/>
                </a:solidFill>
                <a:latin typeface="Liberation Sans"/>
              </a:rPr>
              <a:t>estado atual da implementação</a:t>
            </a:r>
          </a:p>
        </p:txBody>
      </p:sp>
      <p:pic>
        <p:nvPicPr>
          <p:cNvPr id="7" name="Picture 6" descr="dashboard_prot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7955279" cy="44748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097280"/>
            <a:ext cx="2880360" cy="484632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52560" y="1444752"/>
            <a:ext cx="1508760" cy="329184"/>
          </a:xfrm>
          <a:prstGeom prst="roundRect">
            <a:avLst/>
          </a:prstGeom>
          <a:solidFill>
            <a:srgbClr val="00E68C"/>
          </a:solidFill>
          <a:ln>
            <a:solidFill>
              <a:srgbClr val="0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1000" b="1">
                <a:solidFill>
                  <a:srgbClr val="050714"/>
                </a:solidFill>
                <a:latin typeface="Liberation Sans"/>
              </a:rPr>
              <a:t>IMPLEMENTADO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9659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BF2FF"/>
                </a:solidFill>
                <a:latin typeface="Liberation Sans"/>
              </a:defRPr>
            </a:pPr>
            <a:r>
              <a:t>• Fullscreen</a:t>
            </a:r>
          </a:p>
          <a:p>
            <a:pPr>
              <a:spcAft>
                <a:spcPts val="1000"/>
              </a:spcAft>
              <a:defRPr sz="1600">
                <a:solidFill>
                  <a:srgbClr val="EBF2FF"/>
                </a:solidFill>
                <a:latin typeface="Liberation Sans"/>
              </a:defRPr>
            </a:pPr>
            <a:r>
              <a:t>• CubeSat animado</a:t>
            </a:r>
          </a:p>
          <a:p>
            <a:pPr>
              <a:spcAft>
                <a:spcPts val="1000"/>
              </a:spcAft>
              <a:defRPr sz="1600">
                <a:solidFill>
                  <a:srgbClr val="EBF2FF"/>
                </a:solidFill>
                <a:latin typeface="Liberation Sans"/>
              </a:defRPr>
            </a:pPr>
            <a:r>
              <a:t>• Telemetria</a:t>
            </a:r>
          </a:p>
          <a:p>
            <a:pPr>
              <a:spcAft>
                <a:spcPts val="1000"/>
              </a:spcAft>
              <a:defRPr sz="1600">
                <a:solidFill>
                  <a:srgbClr val="EBF2FF"/>
                </a:solidFill>
                <a:latin typeface="Liberation Sans"/>
              </a:defRPr>
            </a:pPr>
            <a:r>
              <a:t>• Console</a:t>
            </a:r>
          </a:p>
          <a:p>
            <a:pPr>
              <a:spcAft>
                <a:spcPts val="1000"/>
              </a:spcAft>
              <a:defRPr sz="1600">
                <a:solidFill>
                  <a:srgbClr val="EBF2FF"/>
                </a:solidFill>
                <a:latin typeface="Liberation Sans"/>
              </a:defRPr>
            </a:pPr>
            <a:r>
              <a:t>• Seed isolada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4041648"/>
            <a:ext cx="1965960" cy="329184"/>
          </a:xfrm>
          <a:prstGeom prst="roundRect">
            <a:avLst/>
          </a:prstGeom>
          <a:solidFill>
            <a:srgbClr val="FFA600"/>
          </a:solidFill>
          <a:ln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1000" b="1">
                <a:solidFill>
                  <a:srgbClr val="050714"/>
                </a:solidFill>
                <a:latin typeface="Liberation Sans"/>
              </a:rPr>
              <a:t>EM DESENVOLVIMENTO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4480560"/>
            <a:ext cx="2240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BF2FF"/>
                </a:solidFill>
                <a:latin typeface="Liberation Sans"/>
              </a:defRPr>
            </a:pPr>
            <a:r>
              <a:t>• Mutação real</a:t>
            </a:r>
          </a:p>
          <a:p>
            <a:pPr>
              <a:spcAft>
                <a:spcPts val="1000"/>
              </a:spcAft>
              <a:defRPr sz="1500">
                <a:solidFill>
                  <a:srgbClr val="EBF2FF"/>
                </a:solidFill>
                <a:latin typeface="Liberation Sans"/>
              </a:defRPr>
            </a:pPr>
            <a:r>
              <a:t>• CRC-32</a:t>
            </a:r>
          </a:p>
          <a:p>
            <a:pPr>
              <a:spcAft>
                <a:spcPts val="1000"/>
              </a:spcAft>
              <a:defRPr sz="1500">
                <a:solidFill>
                  <a:srgbClr val="EBF2FF"/>
                </a:solidFill>
                <a:latin typeface="Liberation Sans"/>
              </a:defRPr>
            </a:pPr>
            <a:r>
              <a:t>• CSV / timeline</a:t>
            </a:r>
          </a:p>
          <a:p>
            <a:pPr>
              <a:spcAft>
                <a:spcPts val="1000"/>
              </a:spcAft>
              <a:defRPr sz="1500">
                <a:solidFill>
                  <a:srgbClr val="EBF2FF"/>
                </a:solidFill>
                <a:latin typeface="Liberation Sans"/>
              </a:defRPr>
            </a:pPr>
            <a:r>
              <a:t>• ESP32 / serial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80760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4B5F"/>
                </a:solidFill>
                <a:latin typeface="Liberation Sans"/>
              </a:rPr>
              <a:t>Dados exibidos nesta captura são simulados.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F"/>
                </a:solidFill>
                <a:latin typeface="Liberation Sans"/>
              </a:rPr>
              <a:t>Metodologia: mesma falha, dois cenários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786384"/>
            <a:ext cx="18288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257800" cy="438912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FF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257800" cy="438912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0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4B5F"/>
                </a:solidFill>
                <a:latin typeface="Liberation Sans"/>
              </a:rPr>
              <a:t>CENÁRIO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2FF"/>
                </a:solidFill>
                <a:latin typeface="Liberation Sans"/>
              </a:rPr>
              <a:t>SEM GUARDIÃO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4206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BF2FF"/>
                </a:solidFill>
                <a:latin typeface="Liberation Sans"/>
              </a:defRPr>
            </a:pPr>
            <a:r>
              <a:t>• Payload original</a:t>
            </a:r>
          </a:p>
          <a:p>
            <a:pPr>
              <a:spcAft>
                <a:spcPts val="1000"/>
              </a:spcAft>
              <a:defRPr sz="1900">
                <a:solidFill>
                  <a:srgbClr val="EBF2FF"/>
                </a:solidFill>
                <a:latin typeface="Liberation Sans"/>
              </a:defRPr>
            </a:pPr>
            <a:r>
              <a:t>• Aplicar fault spec</a:t>
            </a:r>
          </a:p>
          <a:p>
            <a:pPr>
              <a:spcAft>
                <a:spcPts val="1000"/>
              </a:spcAft>
              <a:defRPr sz="1900">
                <a:solidFill>
                  <a:srgbClr val="EBF2FF"/>
                </a:solidFill>
                <a:latin typeface="Liberation Sans"/>
              </a:defRPr>
            </a:pPr>
            <a:r>
              <a:t>• Entregar sem CRC</a:t>
            </a:r>
          </a:p>
          <a:p>
            <a:pPr>
              <a:spcAft>
                <a:spcPts val="1000"/>
              </a:spcAft>
              <a:defRPr sz="1900">
                <a:solidFill>
                  <a:srgbClr val="EBF2FF"/>
                </a:solidFill>
                <a:latin typeface="Liberation Sans"/>
              </a:defRPr>
            </a:pPr>
            <a:r>
              <a:t>• Alteração aceita → SILENT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5361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E68C"/>
                </a:solidFill>
                <a:latin typeface="Liberation Sans"/>
              </a:rPr>
              <a:t>CENÁRIO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2FF"/>
                </a:solidFill>
                <a:latin typeface="Liberation Sans"/>
              </a:rPr>
              <a:t>COM CRC-32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206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BF2FF"/>
                </a:solidFill>
                <a:latin typeface="Liberation Sans"/>
              </a:defRPr>
            </a:pPr>
            <a:r>
              <a:t>• Mesmo payload</a:t>
            </a:r>
          </a:p>
          <a:p>
            <a:pPr>
              <a:spcAft>
                <a:spcPts val="1000"/>
              </a:spcAft>
              <a:defRPr sz="1900">
                <a:solidFill>
                  <a:srgbClr val="EBF2FF"/>
                </a:solidFill>
                <a:latin typeface="Liberation Sans"/>
              </a:defRPr>
            </a:pPr>
            <a:r>
              <a:t>• Mesmo fault spec</a:t>
            </a:r>
          </a:p>
          <a:p>
            <a:pPr>
              <a:spcAft>
                <a:spcPts val="1000"/>
              </a:spcAft>
              <a:defRPr sz="1900">
                <a:solidFill>
                  <a:srgbClr val="EBF2FF"/>
                </a:solidFill>
                <a:latin typeface="Liberation Sans"/>
              </a:defRPr>
            </a:pPr>
            <a:r>
              <a:t>• Recalcular CRC</a:t>
            </a:r>
          </a:p>
          <a:p>
            <a:pPr>
              <a:spcAft>
                <a:spcPts val="1000"/>
              </a:spcAft>
              <a:defRPr sz="1900">
                <a:solidFill>
                  <a:srgbClr val="EBF2FF"/>
                </a:solidFill>
                <a:latin typeface="Liberation Sans"/>
              </a:defRPr>
            </a:pPr>
            <a:r>
              <a:t>• Divergência → DETECTED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5870448"/>
            <a:ext cx="3108960" cy="329184"/>
          </a:xfrm>
          <a:prstGeom prst="round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1000" b="1">
                <a:solidFill>
                  <a:srgbClr val="050714"/>
                </a:solidFill>
                <a:latin typeface="Liberation Sans"/>
              </a:rPr>
              <a:t>SEED E VETORES IDÊNTICOS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F"/>
                </a:solidFill>
                <a:latin typeface="Liberation Sans"/>
              </a:rPr>
              <a:t>Perfil OBC-1U-LIMITED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786384"/>
            <a:ext cx="18288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6A5C3"/>
                </a:solidFill>
                <a:latin typeface="Liberation Sans"/>
              </a:rPr>
              <a:t>limitação controlada, não caricatura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2900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819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DCFF"/>
                </a:solidFill>
                <a:latin typeface="Liberation Sans"/>
              </a:rP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0116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1 core • 80 MHz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342900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5819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164FF"/>
                </a:solidFill>
                <a:latin typeface="Liberation Sans"/>
              </a:rPr>
              <a:t>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0116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256 KiB • sem PSRAM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325880"/>
            <a:ext cx="342900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5819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A600"/>
                </a:solidFill>
                <a:latin typeface="Liberation Sans"/>
              </a:rPr>
              <a:t>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0116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aplicação ≤ 1 MiB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342900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4787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4B5F"/>
                </a:solidFill>
                <a:latin typeface="Liberation Sans"/>
              </a:rPr>
              <a:t>RÁDIO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977639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Wi-Fi / BT desligados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291839"/>
            <a:ext cx="342900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354787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E68C"/>
                </a:solidFill>
                <a:latin typeface="Liberation Sans"/>
              </a:rPr>
              <a:t>UART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3977639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frames de 256 bytes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291839"/>
            <a:ext cx="342900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354787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DCFF"/>
                </a:solidFill>
                <a:latin typeface="Liberation Sans"/>
              </a:rPr>
              <a:t>SAÚDE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977639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watchdog + free heap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5394960"/>
            <a:ext cx="10241280" cy="658368"/>
          </a:xfrm>
          <a:prstGeom prst="roundRect">
            <a:avLst/>
          </a:prstGeom>
          <a:solidFill>
            <a:srgbClr val="181F3D"/>
          </a:solidFill>
          <a:ln w="12700">
            <a:solidFill>
              <a:srgbClr val="0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57784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E68C"/>
                </a:solidFill>
                <a:latin typeface="Liberation Sans"/>
              </a:rPr>
              <a:t>Sempre comparar com BASELINE a 240 MHz: separar custo do algoritmo e custo da limitação.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F"/>
                </a:solidFill>
                <a:latin typeface="Liberation Sans"/>
              </a:rPr>
              <a:t>O que será medido?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786384"/>
            <a:ext cx="18288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074920" cy="114300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630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E68C"/>
                </a:solidFill>
                <a:latin typeface="Liberation Sans"/>
              </a:rPr>
              <a:t>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43560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OK • SILENT • DETECTED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074920" cy="114300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TEMPO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43560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latência e overhead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5074920" cy="114300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718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164FF"/>
                </a:solidFill>
                <a:latin typeface="Liberation Sans"/>
              </a:rPr>
              <a:t>MEMÓRIA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4436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heap livre e pico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5074920" cy="114300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9718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A600"/>
                </a:solidFill>
                <a:latin typeface="Liberation Sans"/>
              </a:rPr>
              <a:t>FIRMWARE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94436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flash ocupada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51960"/>
            <a:ext cx="5074920" cy="114300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48056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4B5F"/>
                </a:solidFill>
                <a:latin typeface="Liberation Sans"/>
              </a:rPr>
              <a:t>ROBUSTEZ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45312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watchdog e resets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251960"/>
            <a:ext cx="5074920" cy="114300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1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6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EVIDÊNCIA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45312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CSV reproduzível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806440"/>
            <a:ext cx="10332720" cy="502920"/>
          </a:xfrm>
          <a:prstGeom prst="roundRect">
            <a:avLst/>
          </a:prstGeom>
          <a:solidFill>
            <a:srgbClr val="181F3D"/>
          </a:solidFill>
          <a:ln w="12700"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925312"/>
            <a:ext cx="9875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A600"/>
                </a:solidFill>
                <a:latin typeface="Liberation Sans"/>
              </a:rPr>
              <a:t>Resultados esperados ≠ resultados coletados. Nenhuma porcentagem será inventada.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F"/>
                </a:solidFill>
                <a:latin typeface="Liberation Sans"/>
              </a:rPr>
              <a:t>Limitações e validade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786384"/>
            <a:ext cx="18288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6A5C3"/>
                </a:solidFill>
                <a:latin typeface="Liberation Sans"/>
              </a:rPr>
              <a:t>o que o seminário afirma — e o que não afirma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507492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FF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81912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4B5F"/>
                </a:solidFill>
                <a:latin typeface="Liberation Sans"/>
              </a:rPr>
              <a:t>FALHA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527048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Bit-flips por software
não são radiação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07492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B1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64FF"/>
                </a:solidFill>
                <a:latin typeface="Liberation Sans"/>
              </a:rPr>
              <a:t>PLATAFORMA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527048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O perfil OBC é didático,
não universal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507492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FF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A600"/>
                </a:solidFill>
                <a:latin typeface="Liberation Sans"/>
              </a:rPr>
              <a:t>RESULTADOS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538728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O protótipo atual ainda
não fornece percentuais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37560"/>
            <a:ext cx="5074920" cy="1508760"/>
          </a:xfrm>
          <a:prstGeom prst="roundRect">
            <a:avLst/>
          </a:prstGeom>
          <a:solidFill>
            <a:srgbClr val="10152B"/>
          </a:solidFill>
          <a:ln w="12700">
            <a:solidFill>
              <a:srgbClr val="0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93591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E68C"/>
                </a:solidFill>
                <a:latin typeface="Liberation Sans"/>
              </a:rPr>
              <a:t>ENERGIA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538728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BF2FF"/>
                </a:solidFill>
                <a:latin typeface="Liberation Sans"/>
              </a:rPr>
              <a:t>Consumo só será afirmado
com medição adequada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5486400"/>
            <a:ext cx="9006840" cy="658368"/>
          </a:xfrm>
          <a:prstGeom prst="roundRect">
            <a:avLst/>
          </a:prstGeom>
          <a:solidFill>
            <a:srgbClr val="181F3D"/>
          </a:solidFill>
          <a:ln w="1270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5650992"/>
            <a:ext cx="8458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DCFF"/>
                </a:solidFill>
                <a:latin typeface="Liberation Sans"/>
              </a:rPr>
              <a:t>Transparência metodológica: proposta, protótipo e resultados são identificados separadamente.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594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DCFF"/>
                </a:solidFill>
                <a:latin typeface="Liberation San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8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F2FF"/>
                </a:solidFill>
                <a:latin typeface="Liberation Sans"/>
              </a:rPr>
              <a:t>Mensagem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786384"/>
            <a:ext cx="18288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469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0DCFF"/>
                </a:solidFill>
                <a:latin typeface="Liberation Sans"/>
              </a:rPr>
              <a:t>Segurança não depende apenas do algoritmo.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286000"/>
            <a:ext cx="10241280" cy="1417320"/>
          </a:xfrm>
          <a:prstGeom prst="roundRect">
            <a:avLst/>
          </a:prstGeom>
          <a:solidFill>
            <a:srgbClr val="181F3D"/>
          </a:solidFill>
          <a:ln w="12700">
            <a:solidFill>
              <a:srgbClr val="0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578608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EBF2FF"/>
                </a:solidFill>
                <a:latin typeface="Liberation Sans"/>
              </a:rPr>
              <a:t>Uma falha simples pode alterar uma sessão;
um mecanismo simples pode tornar a corrupção visível.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E68C"/>
                </a:solidFill>
                <a:latin typeface="Liberation Sans"/>
              </a:rPr>
              <a:t>Entrega atual: problema + hipótese + metodologia + protótipo + critérios de validação.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7492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6A5C3"/>
                </a:solidFill>
                <a:latin typeface="Liberation Sans"/>
              </a:rPr>
              <a:t>Referências principais: NIST FIPS 203 (2024) • Segatz &amp; Al Hafiz (2025) • Azevedo, Lagrota &amp; Ribeiro (SBSeg 2025) • Ravi et al. (2023)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5989320"/>
            <a:ext cx="2194560" cy="329184"/>
          </a:xfrm>
          <a:prstGeom prst="round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1000" b="1">
                <a:solidFill>
                  <a:srgbClr val="050714"/>
                </a:solidFill>
                <a:latin typeface="Liberation Sans"/>
              </a:rPr>
              <a:t>PERGUNTAS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Amon Sinder Souza Pires e Lucas Silva Mendonça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